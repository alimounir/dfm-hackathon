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5995c9b14e4bf8" /><Relationship Type="http://schemas.openxmlformats.org/officeDocument/2006/relationships/extended-properties" Target="/docProps/app.xml" Id="R41fc4ff8e5a144aa" /><Relationship Type="http://schemas.openxmlformats.org/officeDocument/2006/relationships/officeDocument" Target="/ppt/presentation.xml" Id="R848ffe40a39f46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baabaebe44459d"/>
  </p:sldMasterIdLst>
  <p:notesMasterIdLst>
    <p:notesMasterId xmlns:r="http://schemas.openxmlformats.org/officeDocument/2006/relationships" r:id="R3cbd1ca889a04c44"/>
  </p:notesMasterIdLst>
  <p:sldIdLst>
    <p:sldId xmlns:r="http://schemas.openxmlformats.org/officeDocument/2006/relationships" id="256" r:id="R6b43d0dde0524d0a"/>
    <p:sldId xmlns:r="http://schemas.openxmlformats.org/officeDocument/2006/relationships" id="257" r:id="R8a46281e19fd415c"/>
    <p:sldId xmlns:r="http://schemas.openxmlformats.org/officeDocument/2006/relationships" id="258" r:id="R0a78ad2f54ed408c"/>
    <p:sldId xmlns:r="http://schemas.openxmlformats.org/officeDocument/2006/relationships" id="259" r:id="R2e1fa188a04346a0"/>
    <p:sldId xmlns:r="http://schemas.openxmlformats.org/officeDocument/2006/relationships" id="260" r:id="R61b1bffa931348fb"/>
    <p:sldId xmlns:r="http://schemas.openxmlformats.org/officeDocument/2006/relationships" id="261" r:id="R766d92c4a5074728"/>
    <p:sldId xmlns:r="http://schemas.openxmlformats.org/officeDocument/2006/relationships" id="262" r:id="Re179c522f9fa45d9"/>
    <p:sldId xmlns:r="http://schemas.openxmlformats.org/officeDocument/2006/relationships" id="263" r:id="Rce27494388a047c4"/>
    <p:sldId xmlns:r="http://schemas.openxmlformats.org/officeDocument/2006/relationships" id="264" r:id="R62f29d128caa41ab"/>
    <p:sldId xmlns:r="http://schemas.openxmlformats.org/officeDocument/2006/relationships" id="265" r:id="Rd7e74b2a56e24a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a907b44dff4b43" /><Relationship Type="http://schemas.openxmlformats.org/officeDocument/2006/relationships/slideMaster" Target="/ppt/slideMasters/slideMaster1.xml" Id="R5bbaabaebe44459d" /><Relationship Type="http://schemas.openxmlformats.org/officeDocument/2006/relationships/notesMaster" Target="/ppt/notesMasters/notesMaster1.xml" Id="R3cbd1ca889a04c44" /><Relationship Type="http://schemas.openxmlformats.org/officeDocument/2006/relationships/presProps" Target="/ppt/presProps.xml" Id="Rb7726b3adc8d4e2f" /><Relationship Type="http://schemas.openxmlformats.org/officeDocument/2006/relationships/tableStyles" Target="/ppt/tableStyles.xml" Id="R58699436ba7643b1" /><Relationship Type="http://schemas.openxmlformats.org/officeDocument/2006/relationships/slide" Target="/ppt/slides/slide1.xml" Id="R6b43d0dde0524d0a" /><Relationship Type="http://schemas.openxmlformats.org/officeDocument/2006/relationships/slide" Target="/ppt/slides/slide2.xml" Id="R8a46281e19fd415c" /><Relationship Type="http://schemas.openxmlformats.org/officeDocument/2006/relationships/slide" Target="/ppt/slides/slide3.xml" Id="R0a78ad2f54ed408c" /><Relationship Type="http://schemas.openxmlformats.org/officeDocument/2006/relationships/slide" Target="/ppt/slides/slide4.xml" Id="R2e1fa188a04346a0" /><Relationship Type="http://schemas.openxmlformats.org/officeDocument/2006/relationships/slide" Target="/ppt/slides/slide5.xml" Id="R61b1bffa931348fb" /><Relationship Type="http://schemas.openxmlformats.org/officeDocument/2006/relationships/slide" Target="/ppt/slides/slide6.xml" Id="R766d92c4a5074728" /><Relationship Type="http://schemas.openxmlformats.org/officeDocument/2006/relationships/slide" Target="/ppt/slides/slide7.xml" Id="Re179c522f9fa45d9" /><Relationship Type="http://schemas.openxmlformats.org/officeDocument/2006/relationships/slide" Target="/ppt/slides/slide8.xml" Id="Rce27494388a047c4" /><Relationship Type="http://schemas.openxmlformats.org/officeDocument/2006/relationships/slide" Target="/ppt/slides/slide9.xml" Id="R62f29d128caa41ab" /><Relationship Type="http://schemas.openxmlformats.org/officeDocument/2006/relationships/slide" Target="/ppt/slides/slide10.xml" Id="Rd7e74b2a56e24a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0bbf6198474d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a0aa50fba0420e" /><Relationship Type="http://schemas.openxmlformats.org/officeDocument/2006/relationships/notesMaster" Target="/ppt/notesMasters/notesMaster1.xml" Id="R35cb4b6365824c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605e5cb6b34e72" /><Relationship Type="http://schemas.openxmlformats.org/officeDocument/2006/relationships/notesMaster" Target="/ppt/notesMasters/notesMaster1.xml" Id="Rec15e6ddb34949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0a41f028f04990" /><Relationship Type="http://schemas.openxmlformats.org/officeDocument/2006/relationships/notesMaster" Target="/ppt/notesMasters/notesMaster1.xml" Id="R35956170790742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9b5ba3a35f46ca" /><Relationship Type="http://schemas.openxmlformats.org/officeDocument/2006/relationships/notesMaster" Target="/ppt/notesMasters/notesMaster1.xml" Id="R090c1410c58141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713ff28d384d43" /><Relationship Type="http://schemas.openxmlformats.org/officeDocument/2006/relationships/notesMaster" Target="/ppt/notesMasters/notesMaster1.xml" Id="R874b9345363c4f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b6118255824d18" /><Relationship Type="http://schemas.openxmlformats.org/officeDocument/2006/relationships/notesMaster" Target="/ppt/notesMasters/notesMaster1.xml" Id="R38cbbd0113a145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e6f9e987cf4233" /><Relationship Type="http://schemas.openxmlformats.org/officeDocument/2006/relationships/notesMaster" Target="/ppt/notesMasters/notesMaster1.xml" Id="R4768578550ef4a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e7c5a3e6614488" /><Relationship Type="http://schemas.openxmlformats.org/officeDocument/2006/relationships/notesMaster" Target="/ppt/notesMasters/notesMaster1.xml" Id="R0db579eccac74a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41f20dd96048ed" /><Relationship Type="http://schemas.openxmlformats.org/officeDocument/2006/relationships/notesMaster" Target="/ppt/notesMasters/notesMaster1.xml" Id="R7b6cb5e83dce40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f58e3768da4be6" /><Relationship Type="http://schemas.openxmlformats.org/officeDocument/2006/relationships/notesMaster" Target="/ppt/notesMasters/notesMaster1.xml" Id="Rd28b6c63cda647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d7e3e9ba945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50edb3982c427b" /><Relationship Type="http://schemas.openxmlformats.org/officeDocument/2006/relationships/slideLayout" Target="/ppt/slideLayouts/slideLayout1.xml" Id="R7e426e0c179a44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426e0c179a44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b879273334dd0" /><Relationship Type="http://schemas.openxmlformats.org/officeDocument/2006/relationships/notesSlide" Target="/ppt/notesSlides/notesSlide1.xml" Id="Rf936f5e7730b4b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c521e5d9c41ed" /><Relationship Type="http://schemas.openxmlformats.org/officeDocument/2006/relationships/notesSlide" Target="/ppt/notesSlides/notesSlide2.xml" Id="R14c67ad341934b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271d1ce9f4eaf" /><Relationship Type="http://schemas.openxmlformats.org/officeDocument/2006/relationships/notesSlide" Target="/ppt/notesSlides/notesSlide3.xml" Id="R05db7c26359a47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19741db7947b3" /><Relationship Type="http://schemas.openxmlformats.org/officeDocument/2006/relationships/notesSlide" Target="/ppt/notesSlides/notesSlide4.xml" Id="Rc102c32b63134c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781fd88ad49cc" /><Relationship Type="http://schemas.openxmlformats.org/officeDocument/2006/relationships/notesSlide" Target="/ppt/notesSlides/notesSlide5.xml" Id="R7cdc7ee4f4db44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ed83e247c46a0" /><Relationship Type="http://schemas.openxmlformats.org/officeDocument/2006/relationships/notesSlide" Target="/ppt/notesSlides/notesSlide6.xml" Id="Rdd035324996b4f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df472e1094521" /><Relationship Type="http://schemas.openxmlformats.org/officeDocument/2006/relationships/notesSlide" Target="/ppt/notesSlides/notesSlide7.xml" Id="R311c11cb388547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d2e56b5a04644" /><Relationship Type="http://schemas.openxmlformats.org/officeDocument/2006/relationships/notesSlide" Target="/ppt/notesSlides/notesSlide8.xml" Id="Rc8b6967aebea4a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8eae54dc342d1" /><Relationship Type="http://schemas.openxmlformats.org/officeDocument/2006/relationships/notesSlide" Target="/ppt/notesSlides/notesSlide9.xml" Id="Rf272f33d7c4d43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c143f99ae4f93" /><Relationship Type="http://schemas.openxmlformats.org/officeDocument/2006/relationships/notesSlide" Target="/ppt/notesSlides/notesSlide10.xml" Id="R5b9e3b2018cd4c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6A22F1-66F0-4701-9086-3C00D320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D5D47-1129-45C2-B808-68125DBC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0"/>
            <a:ext cx="4457700" cy="68580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1D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60CA1-2A51-4848-9044-1302B933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41E37-02ED-4508-A27F-3A0BA087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3B36"/>
                </a:solidFill>
              </a:defRPr>
            </a:pPr>
            <a:r>
              <a:rPr sz="1650" b="1">
                <a:solidFill>
                  <a:srgbClr val="153B36"/>
                </a:solidFill>
              </a:rPr>
              <a:t>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A9013-26C9-4E47-99D9-DCFB01A0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3EF"/>
                </a:solidFill>
              </a:defRPr>
            </a:pPr>
            <a:r>
              <a:rPr sz="2100" b="1">
                <a:solidFill>
                  <a:srgbClr val="F5F3EF"/>
                </a:solidFill>
              </a:rPr>
              <a:t>Hazava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6E522-00B8-461E-B24E-39228985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90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3D8"/>
                </a:solidFill>
              </a:defRPr>
            </a:pPr>
            <a:r>
              <a:rPr sz="1200" b="0">
                <a:solidFill>
                  <a:srgbClr val="E9E3D8"/>
                </a:solidFill>
              </a:rPr>
              <a:t>M&amp;E Assistant for DFM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5B806-0D4A-4B79-9950-4AEDB9AF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096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5F3EF"/>
                </a:solidFill>
              </a:defRPr>
            </a:pPr>
            <a:r>
              <a:rPr sz="4500" b="1">
                <a:solidFill>
                  <a:srgbClr val="F5F3EF"/>
                </a:solidFill>
              </a:rPr>
              <a:t>AI-supported M&amp;E for Doctors for Madagascar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D4155-58E1-41BF-90AA-755EB3FA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9E3D8"/>
                </a:solidFill>
              </a:defRPr>
            </a:pPr>
            <a:r>
              <a:rPr sz="1800" b="0">
                <a:solidFill>
                  <a:srgbClr val="E9E3D8"/>
                </a:solidFill>
              </a:rPr>
              <a:t>From raw Excel, REDCap and DHIS2 exports to French-first data quality findings, risk windows and donor-ready stories.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13939-07A5-4F11-9497-58C4E0D4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6764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D547F-1461-49ED-AA51-B164BB82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B36"/>
                </a:solidFill>
              </a:defRPr>
            </a:pPr>
            <a:r>
              <a:rPr sz="1200" b="1">
                <a:solidFill>
                  <a:srgbClr val="153B36"/>
                </a:solidFill>
              </a:rPr>
              <a:t>Hackathon pitch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D4216-674C-4BD3-94B1-E0EE2E5D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95850"/>
            <a:ext cx="21336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C319C-64EA-41AF-B72F-F62C7BB3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530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Implemented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1CE4F-D08C-4C4F-816F-300F3B45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104900"/>
            <a:ext cx="46482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0751F-9E3C-4656-8E02-8157010E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104900"/>
            <a:ext cx="4648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20836-05BD-41F9-8375-E4BE5BBC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38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3EF"/>
                </a:solidFill>
              </a:defRPr>
            </a:pPr>
            <a:r>
              <a:rPr sz="1500" b="1">
                <a:solidFill>
                  <a:srgbClr val="F5F3EF"/>
                </a:solidFill>
              </a:rPr>
              <a:t>MCHP / Echographie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A7F08-7D0A-493A-9C90-235C1D91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2001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F8891-3BFC-41E4-B43A-CDB07F13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257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B36"/>
                </a:solidFill>
              </a:defRPr>
            </a:pPr>
            <a:r>
              <a:rPr sz="1200" b="1">
                <a:solidFill>
                  <a:srgbClr val="153B36"/>
                </a:solidFill>
              </a:rPr>
              <a:t>FR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A4C06-8601-4BE1-A1C0-9BB50475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85950"/>
            <a:ext cx="1270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F61B1-C0F7-4C04-90BD-7F5C7CDA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859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ECCE7-C130-413B-BE84-CF5F88F6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98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B36"/>
                </a:solidFill>
              </a:defRPr>
            </a:pPr>
            <a:r>
              <a:rPr sz="2250" b="1">
                <a:solidFill>
                  <a:srgbClr val="153B36"/>
                </a:solidFill>
              </a:rPr>
              <a:t>10,169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614C04-55F1-43C1-9E59-AF9AF43D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14600"/>
            <a:ext cx="98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Ultrasounds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D298EB-1C26-4AA9-BE5E-72DA53BE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1885950"/>
            <a:ext cx="1270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84EDBB-45E3-4581-AF12-549C07C1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18859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3FEFE-894F-4BBA-A16A-0DF3A5D7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600" y="2095500"/>
            <a:ext cx="98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B36"/>
                </a:solidFill>
              </a:defRPr>
            </a:pPr>
            <a:r>
              <a:rPr sz="2250" b="1">
                <a:solidFill>
                  <a:srgbClr val="153B36"/>
                </a:solidFill>
              </a:rPr>
              <a:t>8,744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41C437-38AA-4F84-8FBF-9E884BC1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600" y="2514600"/>
            <a:ext cx="98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Pregnant women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2D0E56-234D-4697-882C-F36D3260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1885950"/>
            <a:ext cx="1270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E9AA1E-972E-4075-AAD9-1C72291C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18859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299845-69C5-4B57-BB24-634AD2EA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2095500"/>
            <a:ext cx="98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B36"/>
                </a:solidFill>
              </a:defRPr>
            </a:pPr>
            <a:r>
              <a:rPr sz="2250" b="1">
                <a:solidFill>
                  <a:srgbClr val="153B36"/>
                </a:solidFill>
              </a:rPr>
              <a:t>4.5%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FC4422-8167-4F44-A633-B8F75A33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2514600"/>
            <a:ext cx="98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Complicated cases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C56FF8-1F08-4177-91CD-034DA144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38500"/>
            <a:ext cx="41148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95F3A0-42E0-41CA-B433-80A4702D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0995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B36"/>
                </a:solidFill>
              </a:defRPr>
            </a:pPr>
            <a:r>
              <a:rPr sz="1500" b="1">
                <a:solidFill>
                  <a:srgbClr val="153B36"/>
                </a:solidFill>
              </a:rPr>
              <a:t>Volume mensuel vs cible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D7AB7D-24CB-41DC-9185-F3FF972D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67225"/>
            <a:ext cx="3048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C2A7FF-4C98-4E0B-A2AB-D2F392D2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62450"/>
            <a:ext cx="304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AE4A1F-4CF4-445C-8043-A9E9F2ED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00525"/>
            <a:ext cx="3048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10B697-846D-4B17-AB5C-080CC12C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38625"/>
            <a:ext cx="304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CC42C7-E919-4604-8E0E-4D0C98E0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43375"/>
            <a:ext cx="3048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5A9DB9-7DC6-461D-9C3B-6E657FAA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38575"/>
            <a:ext cx="3048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3286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9FDEFC-F12E-4CBD-8963-A74681E9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A66A"/>
                </a:solidFill>
              </a:defRPr>
            </a:pPr>
            <a:r>
              <a:rPr sz="1200" b="1">
                <a:solidFill>
                  <a:srgbClr val="2FA66A"/>
                </a:solidFill>
              </a:rPr>
              <a:t>HAZAVA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F1F41-338F-4BD3-974E-0EDE1947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B36"/>
                </a:solidFill>
              </a:defRPr>
            </a:pPr>
            <a:r>
              <a:rPr sz="3000" b="1">
                <a:solidFill>
                  <a:srgbClr val="153B36"/>
                </a:solidFill>
              </a:rPr>
              <a:t>The problem: valuable data, slow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58AC7-C5FE-4AD7-9A3B-3CDE171D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2CFB2-8FCF-4922-948E-22828254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870"/>
                </a:solidFill>
              </a:defRPr>
            </a:pPr>
            <a:r>
              <a:rPr sz="1650" b="0">
                <a:solidFill>
                  <a:srgbClr val="617870"/>
                </a:solidFill>
              </a:rPr>
              <a:t>DFM already collects high-value M&amp;E data, but the path from export to decision still depends on manual checking, contextual interpretation and report writing.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08DF5-9BF0-489C-9DBE-6D1D1DB0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971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FF582-D3CB-41DF-B649-87DE4F32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B36"/>
                </a:solidFill>
              </a:defRPr>
            </a:pPr>
            <a:r>
              <a:rPr sz="1800" b="1">
                <a:solidFill>
                  <a:srgbClr val="153B36"/>
                </a:solidFill>
              </a:rPr>
              <a:t>REDCap exports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26AA7-060F-4571-B139-4E118AF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870"/>
                </a:solidFill>
              </a:defRPr>
            </a:pPr>
            <a:r>
              <a:rPr sz="1275" b="0">
                <a:solidFill>
                  <a:srgbClr val="617870"/>
                </a:solidFill>
              </a:rPr>
              <a:t>forms, registers, project indicators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EB67A-01F7-4F28-936C-609D8408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81300"/>
            <a:ext cx="2971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CB1EF-9F46-4B7C-BADD-998A17C4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B36"/>
                </a:solidFill>
              </a:defRPr>
            </a:pPr>
            <a:r>
              <a:rPr sz="1800" b="1">
                <a:solidFill>
                  <a:srgbClr val="153B36"/>
                </a:solidFill>
              </a:rPr>
              <a:t>DHIS2 service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AA079-EE52-47AE-AEA1-A87B85E7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870"/>
                </a:solidFill>
              </a:defRPr>
            </a:pPr>
            <a:r>
              <a:rPr sz="1275" b="0">
                <a:solidFill>
                  <a:srgbClr val="617870"/>
                </a:solidFill>
              </a:rPr>
              <a:t>utilisation, facility activity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67874-4B50-47D3-B68E-CEABB554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971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B4DEE-3AB5-4AAB-873E-296A1AB9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B36"/>
                </a:solidFill>
              </a:defRPr>
            </a:pPr>
            <a:r>
              <a:rPr sz="1800" b="1">
                <a:solidFill>
                  <a:srgbClr val="153B36"/>
                </a:solidFill>
              </a:rPr>
              <a:t>TB cohorts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BCC62-2DAA-41D1-AF91-4EDD45B4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870"/>
                </a:solidFill>
              </a:defRPr>
            </a:pPr>
            <a:r>
              <a:rPr sz="1275" b="0">
                <a:solidFill>
                  <a:srgbClr val="617870"/>
                </a:solidFill>
              </a:rPr>
              <a:t>follow-up, outcomes, completeness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2395B-8D17-4893-83F2-84F13FA5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33850"/>
            <a:ext cx="2971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F96E1-320A-40F0-B375-1FFAED95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24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B36"/>
                </a:solidFill>
              </a:defRPr>
            </a:pPr>
            <a:r>
              <a:rPr sz="1800" b="1">
                <a:solidFill>
                  <a:srgbClr val="153B36"/>
                </a:solidFill>
              </a:rPr>
              <a:t>Dashboards &amp; Excel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24BFA-292A-4FCE-9B08-07C574B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870"/>
                </a:solidFill>
              </a:defRPr>
            </a:pPr>
            <a:r>
              <a:rPr sz="1275" b="0">
                <a:solidFill>
                  <a:srgbClr val="617870"/>
                </a:solidFill>
              </a:rPr>
              <a:t>MCHP, MAFY, TIA LONGO, PROF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BDECC-8977-4C01-B030-8A79BE87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B1354-78FB-4704-8A03-AF129CDD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F3EF"/>
                </a:solidFill>
              </a:defRPr>
            </a:pPr>
            <a:r>
              <a:rPr sz="2250" b="1">
                <a:solidFill>
                  <a:srgbClr val="F5F3EF"/>
                </a:solidFill>
              </a:rPr>
              <a:t>Manual bottleneck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98C11-D06C-4B36-9E04-9DA5ED2B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E3D8"/>
                </a:solidFill>
              </a:defRPr>
            </a:pPr>
            <a:r>
              <a:rPr sz="1500" b="0">
                <a:solidFill>
                  <a:srgbClr val="E9E3D8"/>
                </a:solidFill>
              </a:rPr>
              <a:t>1. Check missing and implausible values</a:t>
            </a:r>
          </a:p>
          <a:p xmlns:a="http://schemas.openxmlformats.org/drawingml/2006/main">
            <a:pPr algn="l">
              <a:defRPr sz="1500" b="0">
                <a:solidFill>
                  <a:srgbClr val="E9E3D8"/>
                </a:solidFill>
              </a:defRPr>
            </a:pPr>
            <a:r>
              <a:rPr sz="1500" b="0">
                <a:solidFill>
                  <a:srgbClr val="E9E3D8"/>
                </a:solidFill>
              </a:rPr>
              <a:t>2. Explain trends and gaps</a:t>
            </a:r>
          </a:p>
          <a:p xmlns:a="http://schemas.openxmlformats.org/drawingml/2006/main">
            <a:pPr algn="l">
              <a:defRPr sz="1500" b="0">
                <a:solidFill>
                  <a:srgbClr val="E9E3D8"/>
                </a:solidFill>
              </a:defRPr>
            </a:pPr>
            <a:r>
              <a:rPr sz="1500" b="0">
                <a:solidFill>
                  <a:srgbClr val="E9E3D8"/>
                </a:solidFill>
              </a:rPr>
              <a:t>3. Prepare reports for different audiences</a:t>
            </a:r>
          </a:p>
          <a:p xmlns:a="http://schemas.openxmlformats.org/drawingml/2006/main">
            <a:pPr algn="l">
              <a:defRPr sz="1500" b="0">
                <a:solidFill>
                  <a:srgbClr val="E9E3D8"/>
                </a:solidFill>
              </a:defRPr>
            </a:pPr>
            <a:r>
              <a:rPr sz="1500" b="0">
                <a:solidFill>
                  <a:srgbClr val="E9E3D8"/>
                </a:solidFill>
              </a:rPr>
              <a:t>4. Translate insight into clear French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9E1DA3-F86B-441C-B8BA-CB411093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EA70B-B5DC-4D82-8C66-68877ABE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29250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B36"/>
                </a:solidFill>
              </a:defRPr>
            </a:pPr>
            <a:r>
              <a:rPr sz="1500" b="1">
                <a:solidFill>
                  <a:srgbClr val="153B36"/>
                </a:solidFill>
              </a:rPr>
              <a:t>Result: useful data arrives late, with inconsistent explanations and preventable quality risks.</a:t>
            </a:r>
          </a:p>
        </p:txBody>
      </p:sp>
    </p:spTree>
    <p:extLst>
      <p:ext uri="{BB962C8B-B14F-4D97-AF65-F5344CB8AC3E}">
        <p14:creationId xmlns:p14="http://schemas.microsoft.com/office/powerpoint/2010/main" val="7591935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05F2BF-10DE-468D-8C5C-B52B312E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A66A"/>
                </a:solidFill>
              </a:defRPr>
            </a:pPr>
            <a:r>
              <a:rPr sz="1200" b="1">
                <a:solidFill>
                  <a:srgbClr val="2FA66A"/>
                </a:solidFill>
              </a:rPr>
              <a:t>HAZAVA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E0170-BB2F-4465-A567-47A81F80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B36"/>
                </a:solidFill>
              </a:defRPr>
            </a:pPr>
            <a:r>
              <a:rPr sz="3000" b="1">
                <a:solidFill>
                  <a:srgbClr val="153B36"/>
                </a:solidFill>
              </a:rPr>
              <a:t>Hazava AI: a practical M&amp;E co-pilot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B1CAF-865F-41CA-BB27-4E21CDE8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43EE7-C163-42C7-8B9D-74A051CE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870"/>
                </a:solidFill>
              </a:defRPr>
            </a:pPr>
            <a:r>
              <a:rPr sz="1650" b="0">
                <a:solidFill>
                  <a:srgbClr val="617870"/>
                </a:solidFill>
              </a:rPr>
              <a:t>Hazava sits between project data and project decisions. It does the first pass, explains what it found, and keeps a human approval step before final import.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A92C9-61ED-4B8B-A74E-505FF7A9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571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2DEC6-942B-4527-ACB6-EC1B457F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4DD11-9DDE-462E-8B7F-4CEB3E50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3EF"/>
                </a:solidFill>
              </a:defRPr>
            </a:pPr>
            <a:r>
              <a:rPr sz="1500" b="1">
                <a:solidFill>
                  <a:srgbClr val="F5F3E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C60EA-7100-4179-9929-6FCDACCC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527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B36"/>
                </a:solidFill>
              </a:defRPr>
            </a:pPr>
            <a:r>
              <a:rPr sz="1800" b="1">
                <a:solidFill>
                  <a:srgbClr val="153B36"/>
                </a:solidFill>
              </a:rPr>
              <a:t>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C4565-2C64-44CB-B195-30714C4E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1733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Drop Excel, CSV, REDCap or DHIS2 exports into the right project.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949E2-7BBD-4B5E-98ED-9E98C616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2571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F76FB-D261-4B5E-8667-47CB5987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527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58A1F-DF55-49D5-A14A-AC045188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3EF"/>
                </a:solidFill>
              </a:defRPr>
            </a:pPr>
            <a:r>
              <a:rPr sz="1500" b="1">
                <a:solidFill>
                  <a:srgbClr val="F5F3E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043AA-1F54-4EFC-B7DB-61F96300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527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B36"/>
                </a:solidFill>
              </a:defRPr>
            </a:pPr>
            <a:r>
              <a:rPr sz="1800" b="1">
                <a:solidFill>
                  <a:srgbClr val="153B36"/>
                </a:solidFill>
              </a:rPr>
              <a:t>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24420-059B-48B2-9A72-C6BE8403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33750"/>
            <a:ext cx="1733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Detect missing values, duplicates and implausible entries.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E60F2-9F41-4DD5-8020-D77E2131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571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3EF1C-DAC6-49EA-B5E5-D144F718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79A17-F95A-4DD0-A8C8-24A2F669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3EF"/>
                </a:solidFill>
              </a:defRPr>
            </a:pPr>
            <a:r>
              <a:rPr sz="1500" b="1">
                <a:solidFill>
                  <a:srgbClr val="F5F3E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8701C-0391-4DEA-9AD6-BF5D0B85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B36"/>
                </a:solidFill>
              </a:defRPr>
            </a:pPr>
            <a:r>
              <a:rPr sz="1800" b="1">
                <a:solidFill>
                  <a:srgbClr val="153B36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9D663-FE52-4E43-969C-4A5297B2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1733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Write clear French explanations with review actions.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6A62CB-F77A-46EF-A71B-B98BFDDD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81300"/>
            <a:ext cx="24384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BC15C-5383-4176-9C29-4FCA285E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527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1997D6-B956-4025-B08F-1B9DB803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099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3EF"/>
                </a:solidFill>
              </a:defRPr>
            </a:pPr>
            <a:r>
              <a:rPr sz="1500" b="1">
                <a:solidFill>
                  <a:srgbClr val="F5F3E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48C34-271D-4097-BDB0-34074137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527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B36"/>
                </a:solidFill>
              </a:defRPr>
            </a:pPr>
            <a:r>
              <a:rPr sz="1800" b="1">
                <a:solidFill>
                  <a:srgbClr val="153B36"/>
                </a:solidFill>
              </a:rPr>
              <a:t>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3F09A-C209-426D-8E0A-B2A12249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33750"/>
            <a:ext cx="1600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Update dashboards, risk windows and team stories.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8478A7-5F5A-4380-AAC2-74B63FC4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104584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D54428-D95B-4B26-8D2A-D83034EA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911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3EF"/>
                </a:solidFill>
              </a:defRPr>
            </a:pPr>
            <a:r>
              <a:rPr sz="1950" b="1">
                <a:solidFill>
                  <a:srgbClr val="F5F3EF"/>
                </a:solidFill>
              </a:rPr>
              <a:t>Three functions in one workflow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C05201-B5BD-4B4D-A8CB-9A54EFAE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0101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A623"/>
                </a:solidFill>
              </a:defRPr>
            </a:pPr>
            <a:r>
              <a:rPr sz="1350" b="1">
                <a:solidFill>
                  <a:srgbClr val="F4A623"/>
                </a:solidFill>
              </a:rPr>
              <a:t>Data quality checking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7C9D34-B929-4BA8-B274-FE870670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10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A623"/>
                </a:solidFill>
              </a:defRPr>
            </a:pPr>
            <a:r>
              <a:rPr sz="1350" b="1">
                <a:solidFill>
                  <a:srgbClr val="F4A623"/>
                </a:solidFill>
              </a:rPr>
              <a:t>Gap and risk exploration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2766A2-A26B-48CA-8229-F5F2D6B0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10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A623"/>
                </a:solidFill>
              </a:defRPr>
            </a:pPr>
            <a:r>
              <a:rPr sz="1350" b="1">
                <a:solidFill>
                  <a:srgbClr val="F4A623"/>
                </a:solidFill>
              </a:rPr>
              <a:t>Insight storytelling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B8ED8E-502D-48BB-9D13-FDDCAE4D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911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E3D8"/>
                </a:solidFill>
              </a:defRPr>
            </a:pPr>
            <a:r>
              <a:rPr sz="1500" b="0">
                <a:solidFill>
                  <a:srgbClr val="E9E3D8"/>
                </a:solidFill>
              </a:rPr>
              <a:t>Built for DFM's actual project structure: MCHP, MAFY, TIA LONGO, MIRAY TB, SOAMEVA and PROFESS.</a:t>
            </a:r>
          </a:p>
        </p:txBody>
      </p:sp>
    </p:spTree>
    <p:extLst>
      <p:ext uri="{BB962C8B-B14F-4D97-AF65-F5344CB8AC3E}">
        <p14:creationId xmlns:p14="http://schemas.microsoft.com/office/powerpoint/2010/main" val="421440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21EBBF-FB55-4BA3-94BD-1BFB9ACA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A66A"/>
                </a:solidFill>
              </a:defRPr>
            </a:pPr>
            <a:r>
              <a:rPr sz="1200" b="1">
                <a:solidFill>
                  <a:srgbClr val="2FA66A"/>
                </a:solidFill>
              </a:rPr>
              <a:t>HAZAVA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6FEA9-8360-47AF-9209-35D1BB52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B36"/>
                </a:solidFill>
              </a:defRPr>
            </a:pPr>
            <a:r>
              <a:rPr sz="3000" b="1">
                <a:solidFill>
                  <a:srgbClr val="153B36"/>
                </a:solidFill>
              </a:rPr>
              <a:t>What judges can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14BB3-F3DC-4545-9DE9-15099F29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90098-A33B-43FA-AB2A-7E36F83C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61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870"/>
                </a:solidFill>
              </a:defRPr>
            </a:pPr>
            <a:r>
              <a:rPr sz="1650" b="0">
                <a:solidFill>
                  <a:srgbClr val="617870"/>
                </a:solidFill>
              </a:rPr>
              <a:t>A French-first Next.js application with project navigation, dashboards, upload workflow, filters and a collapsible assistant.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F31C6-A48B-4A8B-B7F5-855B8F85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095500" cy="35814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EA882-75BA-4D2B-A6FE-5EAEC1A7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75412-E48F-4A5C-A78C-04259474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B36"/>
                </a:solidFill>
              </a:defRPr>
            </a:pPr>
            <a:r>
              <a:rPr sz="1500" b="1">
                <a:solidFill>
                  <a:srgbClr val="153B36"/>
                </a:solidFill>
              </a:rPr>
              <a:t>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96224-0C10-43AC-988D-C3295F1A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3EF"/>
                </a:solidFill>
              </a:defRPr>
            </a:pPr>
            <a:r>
              <a:rPr sz="1800" b="1">
                <a:solidFill>
                  <a:srgbClr val="F5F3EF"/>
                </a:solidFill>
              </a:rPr>
              <a:t>Hazava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A5F52-1DA8-47D9-9D9C-A3A9E177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3D8"/>
                </a:solidFill>
              </a:defRPr>
            </a:pPr>
            <a:r>
              <a:rPr sz="1200" b="0">
                <a:solidFill>
                  <a:srgbClr val="E9E3D8"/>
                </a:solidFill>
              </a:rPr>
              <a:t>M&amp;E 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C991E-DEB1-4A19-974A-58048E50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7907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562CC-63D4-40DA-904C-E86EF6C6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3EF"/>
                </a:solidFill>
              </a:defRPr>
            </a:pPr>
            <a:r>
              <a:rPr sz="1275" b="0">
                <a:solidFill>
                  <a:srgbClr val="F5F3EF"/>
                </a:solidFill>
              </a:rPr>
              <a:t>Vue globale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4FCA5-91D6-4D76-A8C6-D71EE387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17907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5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9EBCD-6311-43EE-AD02-388C62D0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3EF"/>
                </a:solidFill>
              </a:defRPr>
            </a:pPr>
            <a:r>
              <a:rPr sz="1275" b="1">
                <a:solidFill>
                  <a:srgbClr val="F5F3EF"/>
                </a:solidFill>
              </a:rPr>
              <a:t>MCHP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7B80B-D3C4-4329-9D77-FE30C0B7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7907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D9844-565F-4F95-BCBB-4B9DC35A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3EF"/>
                </a:solidFill>
              </a:defRPr>
            </a:pPr>
            <a:r>
              <a:rPr sz="1275" b="0">
                <a:solidFill>
                  <a:srgbClr val="F5F3EF"/>
                </a:solidFill>
              </a:rPr>
              <a:t>MAFY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946F9-C1CE-4C2C-9B8E-04015C8D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17907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6628D-2B3D-4F3E-A575-27C397D2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3EF"/>
                </a:solidFill>
              </a:defRPr>
            </a:pPr>
            <a:r>
              <a:rPr sz="1275" b="0">
                <a:solidFill>
                  <a:srgbClr val="F5F3EF"/>
                </a:solidFill>
              </a:rPr>
              <a:t>TIA LONGO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9A9BA-CE34-43DA-9A60-31853F7C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7907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F1BD6-6E32-4D80-936B-71AA4516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3400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3EF"/>
                </a:solidFill>
              </a:defRPr>
            </a:pPr>
            <a:r>
              <a:rPr sz="1275" b="0">
                <a:solidFill>
                  <a:srgbClr val="F5F3EF"/>
                </a:solidFill>
              </a:rPr>
              <a:t>PROFESS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01D6F-1A05-422B-97BA-C2C060C9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7907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F4CD2-C6E3-44EA-9D79-31419C90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9120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A623"/>
                </a:solidFill>
              </a:defRPr>
            </a:pPr>
            <a:r>
              <a:rPr sz="1275" b="0">
                <a:solidFill>
                  <a:srgbClr val="F4A623"/>
                </a:solidFill>
              </a:rPr>
              <a:t>+ Nouveau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EE2828-4266-40F3-977B-25440A46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47900"/>
            <a:ext cx="54292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06C01E-41FA-4563-AFB8-F7A23240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47900"/>
            <a:ext cx="5429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19191-3A3F-4366-A203-03721414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3EF"/>
                </a:solidFill>
              </a:defRPr>
            </a:pPr>
            <a:r>
              <a:rPr sz="1500" b="1">
                <a:solidFill>
                  <a:srgbClr val="F5F3EF"/>
                </a:solidFill>
              </a:rPr>
              <a:t>MCHP / Echographie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909873-8FCD-415C-96EC-39016C90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43150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B19C52-FA95-45B2-96D0-28682D34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00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B36"/>
                </a:solidFill>
              </a:defRPr>
            </a:pPr>
            <a:r>
              <a:rPr sz="1200" b="1">
                <a:solidFill>
                  <a:srgbClr val="153B36"/>
                </a:solidFill>
              </a:rPr>
              <a:t>FR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C68BD9-968C-4BA4-A715-362F8CF8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28950"/>
            <a:ext cx="1530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0C5CA7-7D22-418D-8F01-9C01FE78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289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9B7807-C52D-45B9-B9A3-C30D62FB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38500"/>
            <a:ext cx="124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B36"/>
                </a:solidFill>
              </a:defRPr>
            </a:pPr>
            <a:r>
              <a:rPr sz="2250" b="1">
                <a:solidFill>
                  <a:srgbClr val="153B36"/>
                </a:solidFill>
              </a:rPr>
              <a:t>10,169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C6D599-FC2F-4ACD-A2CA-D2B90AF9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57600"/>
            <a:ext cx="124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Ultrasounds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E321A3-8E88-4C8F-849C-C5D83D90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028950"/>
            <a:ext cx="1530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4B1141-FD88-482C-8AB0-4967E53C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0289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B30B4A-CE6E-464F-8D51-525A747C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900" y="3238500"/>
            <a:ext cx="124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B36"/>
                </a:solidFill>
              </a:defRPr>
            </a:pPr>
            <a:r>
              <a:rPr sz="2250" b="1">
                <a:solidFill>
                  <a:srgbClr val="153B36"/>
                </a:solidFill>
              </a:rPr>
              <a:t>8,744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7AA2F3-F952-42EC-87AD-D75AFCFF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900" y="3657600"/>
            <a:ext cx="124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Pregnant women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68179A-0C89-417D-8A4C-653226BD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250" y="3028950"/>
            <a:ext cx="1530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D3113B-740F-4136-AF81-6109E701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250" y="30289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87508E-216B-4307-8182-18774812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1650" y="3238500"/>
            <a:ext cx="124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B36"/>
                </a:solidFill>
              </a:defRPr>
            </a:pPr>
            <a:r>
              <a:rPr sz="2250" b="1">
                <a:solidFill>
                  <a:srgbClr val="153B36"/>
                </a:solidFill>
              </a:rPr>
              <a:t>4.5%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5FDEA1-DB93-4548-9B87-A77107BB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1650" y="3657600"/>
            <a:ext cx="124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Complicated cases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46F8C6-E251-487B-8EAB-9518034A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48958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CBDECC-4E88-4D4B-A700-49940072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52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B36"/>
                </a:solidFill>
              </a:defRPr>
            </a:pPr>
            <a:r>
              <a:rPr sz="1500" b="1">
                <a:solidFill>
                  <a:srgbClr val="153B36"/>
                </a:solidFill>
              </a:rPr>
              <a:t>Volume mensuel vs cible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937D9B-7D27-4738-81C7-3B945602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10225"/>
            <a:ext cx="3048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D9934B-05BE-400F-A0C1-600AB5CF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505450"/>
            <a:ext cx="304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634F3E-63D8-4635-BA57-31D7E8D8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343525"/>
            <a:ext cx="3048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F315B2-898D-4CB8-8348-C82DA19E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381625"/>
            <a:ext cx="304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9A93DB-A1FC-426F-9A1E-023A896E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86375"/>
            <a:ext cx="3048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437227-3B01-4B6B-8545-3A109B71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81575"/>
            <a:ext cx="3048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A46689-27FF-4912-96AA-3E5BAD25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324100" cy="40005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8C8B4D-692A-47C4-9DFE-BF868ED3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717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3EF"/>
                </a:solidFill>
              </a:defRPr>
            </a:pPr>
            <a:r>
              <a:rPr sz="1800" b="1">
                <a:solidFill>
                  <a:srgbClr val="F5F3EF"/>
                </a:solidFill>
              </a:rPr>
              <a:t>Assistant M&amp;E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B71F3C-E09E-404B-8E40-234CD848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9E3D8"/>
                </a:solidFill>
              </a:defRPr>
            </a:pPr>
            <a:r>
              <a:rPr sz="1275" b="0">
                <a:solidFill>
                  <a:srgbClr val="E9E3D8"/>
                </a:solidFill>
              </a:rPr>
              <a:t>Posez une question sur les donnees du projet.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6D22B2-A1EB-4C61-9BB0-0A738EA5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1676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45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3078CA-AEDF-472C-84CE-39DF2093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8620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3EF"/>
                </a:solidFill>
              </a:defRPr>
            </a:pPr>
            <a:r>
              <a:rPr sz="1200" b="0">
                <a:solidFill>
                  <a:srgbClr val="F5F3EF"/>
                </a:solidFill>
              </a:rPr>
              <a:t>Quels CSB ont besoin d'attention ?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2692D6-BC41-4333-957F-6A8909AE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86300"/>
            <a:ext cx="1676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5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B823DB-59C4-4EDC-9A2C-AB30C2A6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38700"/>
            <a:ext cx="1314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3B36"/>
                </a:solidFill>
              </a:defRPr>
            </a:pPr>
            <a:r>
              <a:rPr sz="1200" b="0">
                <a:solidFill>
                  <a:srgbClr val="153B36"/>
                </a:solidFill>
              </a:rPr>
              <a:t>Belafike et Ejeda ressortent: verifier activite et identifiants.</a:t>
            </a:r>
          </a:p>
        </p:txBody>
      </p:sp>
    </p:spTree>
    <p:extLst>
      <p:ext uri="{BB962C8B-B14F-4D97-AF65-F5344CB8AC3E}">
        <p14:creationId xmlns:p14="http://schemas.microsoft.com/office/powerpoint/2010/main" val="18192022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2EE1C4-6E22-41E9-B10C-D33F1000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A66A"/>
                </a:solidFill>
              </a:defRPr>
            </a:pPr>
            <a:r>
              <a:rPr sz="1200" b="1">
                <a:solidFill>
                  <a:srgbClr val="2FA66A"/>
                </a:solidFill>
              </a:rPr>
              <a:t>HAZAVA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9211A-536D-48F7-94D2-99889BB0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B36"/>
                </a:solidFill>
              </a:defRPr>
            </a:pPr>
            <a:r>
              <a:rPr sz="3000" b="1">
                <a:solidFill>
                  <a:srgbClr val="153B36"/>
                </a:solidFill>
              </a:rPr>
              <a:t>Function 1: data quality checking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9723A-3B75-493C-845B-48D5027D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62210-FE76-4647-8DBF-0E360796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870"/>
                </a:solidFill>
              </a:defRPr>
            </a:pPr>
            <a:r>
              <a:rPr sz="1650" b="0">
                <a:solidFill>
                  <a:srgbClr val="617870"/>
                </a:solidFill>
              </a:rPr>
              <a:t>Hazava reviews structured exports and turns technical flags into human-readable next actions, in French.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B2AC3-0776-4738-98F1-8A28A81B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3028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E7F79-F699-4B22-8A93-25065248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8D1F5-F198-46EC-807A-DF425245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B36"/>
                </a:solidFill>
              </a:defRPr>
            </a:pPr>
            <a:r>
              <a:rPr sz="2550" b="1">
                <a:solidFill>
                  <a:srgbClr val="153B36"/>
                </a:solidFill>
              </a:rPr>
              <a:t>124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5901B-1332-4700-BF95-FAD14061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870"/>
                </a:solidFill>
              </a:defRPr>
            </a:pPr>
            <a:r>
              <a:rPr sz="1275" b="0">
                <a:solidFill>
                  <a:srgbClr val="617870"/>
                </a:solidFill>
              </a:rPr>
              <a:t>suivis sans identifiant complet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DB695-773F-460F-804C-2EA770D3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47950"/>
            <a:ext cx="3028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EBA8D-6760-4117-A687-190D0A18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479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EE5B4-C982-4020-9310-20059A51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B36"/>
                </a:solidFill>
              </a:defRPr>
            </a:pPr>
            <a:r>
              <a:rPr sz="2550" b="1">
                <a:solidFill>
                  <a:srgbClr val="153B36"/>
                </a:solidFill>
              </a:rPr>
              <a:t>318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2EBB5-BE34-4B5A-8F21-EA515CF6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766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870"/>
                </a:solidFill>
              </a:defRPr>
            </a:pPr>
            <a:r>
              <a:rPr sz="1275" b="0">
                <a:solidFill>
                  <a:srgbClr val="617870"/>
                </a:solidFill>
              </a:rPr>
              <a:t>valeurs placeholder a verifier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C6945-AE92-4C97-BAA9-4E8307D7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3028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8D805-EB72-498C-8C36-5F076D29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7F48B-6AAE-46F4-B40F-C216D4D7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B36"/>
                </a:solidFill>
              </a:defRPr>
            </a:pPr>
            <a:r>
              <a:rPr sz="2550" b="1">
                <a:solidFill>
                  <a:srgbClr val="153B36"/>
                </a:solidFill>
              </a:rPr>
              <a:t>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F90BB-2515-4336-ADE2-37D19AAE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766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870"/>
                </a:solidFill>
              </a:defRPr>
            </a:pPr>
            <a:r>
              <a:rPr sz="1275" b="0">
                <a:solidFill>
                  <a:srgbClr val="617870"/>
                </a:solidFill>
              </a:rPr>
              <a:t>noms de CSB a harmoniser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E906A-4868-4D36-A245-D8A4790D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04013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DD1477-C75D-4675-BD55-327D1669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3B36"/>
                </a:solidFill>
              </a:defRPr>
            </a:pPr>
            <a:r>
              <a:rPr sz="1950" b="1">
                <a:solidFill>
                  <a:srgbClr val="153B36"/>
                </a:solidFill>
              </a:rPr>
              <a:t>Example explanation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FC3C2-6F2C-4CC2-BBC8-8A95E8A2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4B46"/>
                </a:solidFill>
              </a:defRPr>
            </a:pPr>
            <a:r>
              <a:rPr sz="1425" b="1">
                <a:solidFill>
                  <a:srgbClr val="C94B46"/>
                </a:solidFill>
              </a:rPr>
              <a:t>Probleme: certains suivis n'ont pas d'identifiant patient complet.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06FB2-27B2-4AAE-9F0E-4745B327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19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870"/>
                </a:solidFill>
              </a:defRPr>
            </a:pPr>
            <a:r>
              <a:rPr sz="1350" b="0">
                <a:solidFill>
                  <a:srgbClr val="617870"/>
                </a:solidFill>
              </a:rPr>
              <a:t>Pourquoi: le lien entre premiere echographie et suivi peut etre perdu avant l'analyse du parcours de soins.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CAAE5A-FF9D-411A-B865-BD3B35E8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05350"/>
            <a:ext cx="4267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B36"/>
                </a:solidFill>
              </a:defRPr>
            </a:pPr>
            <a:r>
              <a:rPr sz="1500" b="1">
                <a:solidFill>
                  <a:srgbClr val="153B36"/>
                </a:solidFill>
              </a:rPr>
              <a:t>Action proposee: verifier QR codes, noms et dates avant le rapport mensuel; garder la validation humaine avant import final.</a:t>
            </a:r>
          </a:p>
        </p:txBody>
      </p:sp>
    </p:spTree>
    <p:extLst>
      <p:ext uri="{BB962C8B-B14F-4D97-AF65-F5344CB8AC3E}">
        <p14:creationId xmlns:p14="http://schemas.microsoft.com/office/powerpoint/2010/main" val="1986643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8DCCCB-5BD9-43EA-80C4-8F23C32E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A66A"/>
                </a:solidFill>
              </a:defRPr>
            </a:pPr>
            <a:r>
              <a:rPr sz="1200" b="1">
                <a:solidFill>
                  <a:srgbClr val="2FA66A"/>
                </a:solidFill>
              </a:rPr>
              <a:t>HAZAVA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2FC65-551B-48A9-9B80-3EC6880E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B36"/>
                </a:solidFill>
              </a:defRPr>
            </a:pPr>
            <a:r>
              <a:rPr sz="3000" b="1">
                <a:solidFill>
                  <a:srgbClr val="153B36"/>
                </a:solidFill>
              </a:rPr>
              <a:t>Function 2: healthcare gap and risk explorer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18432-33DA-4788-88F0-01DD5DB6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688AD-861E-42D2-A139-F9EF9F0F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870"/>
                </a:solidFill>
              </a:defRPr>
            </a:pPr>
            <a:r>
              <a:rPr sz="1650" b="0">
                <a:solidFill>
                  <a:srgbClr val="617870"/>
                </a:solidFill>
              </a:rPr>
              <a:t>The assistant connects utilisation trends with seasonality and access context to surface places and periods that deserve earlier attention.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1346C-A7A3-4685-B416-D0729010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3817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56CE9-3FE1-45BF-BC62-F3CBA5CE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B36"/>
                </a:solidFill>
              </a:defRPr>
            </a:pPr>
            <a:r>
              <a:rPr sz="1800" b="1">
                <a:solidFill>
                  <a:srgbClr val="153B36"/>
                </a:solidFill>
              </a:rPr>
              <a:t>Service volume vs expected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6D5FD-3799-42E7-B255-3581F94A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FA66A"/>
                </a:solidFill>
              </a:defRPr>
            </a:pPr>
            <a:r>
              <a:rPr sz="1200" b="1">
                <a:solidFill>
                  <a:srgbClr val="2FA66A"/>
                </a:solidFill>
              </a:rPr>
              <a:t>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B2268-E12A-479D-92F6-0A540D7E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956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4A623"/>
                </a:solidFill>
              </a:defRPr>
            </a:pPr>
            <a:r>
              <a:rPr sz="1200" b="1">
                <a:solidFill>
                  <a:srgbClr val="F4A623"/>
                </a:solidFill>
              </a:rPr>
              <a:t>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5FF30-CF00-416D-BD2E-2F59D2F6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42FB5-F992-4246-A663-9DD3A2C0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5FE72-C3D1-4BC9-BB79-14D41A1E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86DA1-C00D-4035-9EB0-D3B02819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F861F-2C80-44A8-B712-5EA9484E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266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C87A0-0C0B-43C9-8EF9-D064C3B1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95775"/>
            <a:ext cx="2095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8EA63-7A90-4B5C-ABEF-EBCF1EA9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43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Jan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D6D6F-9F26-4765-8D42-93757488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66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FEE78-8B8E-4257-9178-4F3F11F0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95775"/>
            <a:ext cx="2095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23CC6-CE28-46CB-AFA9-C7B4C272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Feb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ADB14-4475-4488-9E9E-193698FD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67175"/>
            <a:ext cx="2667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05A20C-500C-4F09-8DCE-56EA7317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81475"/>
            <a:ext cx="2095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F46F0-D2C8-4591-96D6-C58E9E5B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43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Mar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F9CBD5-BB32-46D5-BD2F-A5DFF4C1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14800"/>
            <a:ext cx="266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F9F8FD-7489-4020-8256-A153694D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81475"/>
            <a:ext cx="2095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E804A-DC05-42F1-9583-3EC7B749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143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Apr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26312-23DE-448A-8A3B-77DD7911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00500"/>
            <a:ext cx="266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47C5DB-8852-4173-87E1-7EFEB9DC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67175"/>
            <a:ext cx="2095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AB8FE2-807C-4D84-AF7F-9EE15A5D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43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May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A6F05C-30E6-4D55-AD3B-4FBB7978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48075"/>
            <a:ext cx="266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48252E-EA63-4F0A-B13E-BAB200B0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67175"/>
            <a:ext cx="2095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121252-14DD-4D7B-8724-F8FBFCB6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143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870"/>
                </a:solidFill>
              </a:defRPr>
            </a:pPr>
            <a:r>
              <a:rPr sz="1200" b="0">
                <a:solidFill>
                  <a:srgbClr val="617870"/>
                </a:solidFill>
              </a:rPr>
              <a:t>Jun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BD4E4-B113-421C-AC6E-4252ED52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36004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6E6F4A-7168-4216-86BE-BD19A63E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3EF"/>
                </a:solidFill>
              </a:defRPr>
            </a:pPr>
            <a:r>
              <a:rPr sz="2100" b="1">
                <a:solidFill>
                  <a:srgbClr val="F5F3EF"/>
                </a:solidFill>
              </a:rPr>
              <a:t>Risk window surfaced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1AECA7-E93B-471E-860C-1F67956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E3D8"/>
                </a:solidFill>
              </a:defRPr>
            </a:pPr>
            <a:r>
              <a:rPr sz="1500" b="0">
                <a:solidFill>
                  <a:srgbClr val="E9E3D8"/>
                </a:solidFill>
              </a:rPr>
              <a:t>Hazava flags an access-sensitive period when utilisation falls below expectation or complicated cases rise.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BD0E95-8812-4E9B-BCDF-65D20D08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57700"/>
            <a:ext cx="13906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935F63-20B2-4060-B4D0-75129105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148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B36"/>
                </a:solidFill>
              </a:defRPr>
            </a:pPr>
            <a:r>
              <a:rPr sz="1200" b="1">
                <a:solidFill>
                  <a:srgbClr val="153B36"/>
                </a:solidFill>
              </a:rPr>
              <a:t>Seasonality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6E7241-4248-4B21-9B7E-B942DA2E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57700"/>
            <a:ext cx="14097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00F531-D768-4EAB-AF5A-9BD1691B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14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Facility gaps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677330-AEBE-40C3-9E61-95B367F0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3EF"/>
                </a:solidFill>
              </a:defRPr>
            </a:pPr>
            <a:r>
              <a:rPr sz="1500" b="1">
                <a:solidFill>
                  <a:srgbClr val="F5F3EF"/>
                </a:solidFill>
              </a:rPr>
              <a:t>Output: review facilities, validate data and prepare outreach before the gap becomes a reporting surprise.</a:t>
            </a:r>
          </a:p>
        </p:txBody>
      </p:sp>
    </p:spTree>
    <p:extLst>
      <p:ext uri="{BB962C8B-B14F-4D97-AF65-F5344CB8AC3E}">
        <p14:creationId xmlns:p14="http://schemas.microsoft.com/office/powerpoint/2010/main" val="1630090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D09670-8BE9-4E4D-A91E-ADE734FD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A66A"/>
                </a:solidFill>
              </a:defRPr>
            </a:pPr>
            <a:r>
              <a:rPr sz="1200" b="1">
                <a:solidFill>
                  <a:srgbClr val="2FA66A"/>
                </a:solidFill>
              </a:rPr>
              <a:t>HAZAVA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8031D-85B7-4D77-829E-74A1E0F6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B36"/>
                </a:solidFill>
              </a:defRPr>
            </a:pPr>
            <a:r>
              <a:rPr sz="3000" b="1">
                <a:solidFill>
                  <a:srgbClr val="153B36"/>
                </a:solidFill>
              </a:rPr>
              <a:t>Function 3: insight and impact storytelling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883E4-DBD7-4E11-9748-9E4518AD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CD08F-FAA6-4F2B-8F45-11FF132D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870"/>
                </a:solidFill>
              </a:defRPr>
            </a:pPr>
            <a:r>
              <a:rPr sz="1650" b="0">
                <a:solidFill>
                  <a:srgbClr val="617870"/>
                </a:solidFill>
              </a:rPr>
              <a:t>Hazava turns selected indicators into audience-ready explanations: project team briefings, donor updates and partner-facing summaries.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C855E-F642-488F-B3D9-145E8FA6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4905375" cy="29337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2493C-53E4-4BD1-BC8E-B752FF8C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3EF"/>
                </a:solidFill>
              </a:defRPr>
            </a:pPr>
            <a:r>
              <a:rPr sz="2100" b="1">
                <a:solidFill>
                  <a:srgbClr val="F5F3EF"/>
                </a:solidFill>
              </a:rPr>
              <a:t>French-first coordinator Q&amp;A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0105A-2C04-4D1C-8236-EC8E0C2E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A623"/>
                </a:solidFill>
              </a:defRPr>
            </a:pPr>
            <a:r>
              <a:rPr sz="1350" b="1">
                <a:solidFill>
                  <a:srgbClr val="F4A623"/>
                </a:solidFill>
              </a:rPr>
              <a:t>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2E819-26F3-4D40-8FD6-1694B5EE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E3D8"/>
                </a:solidFill>
              </a:defRPr>
            </a:pPr>
            <a:r>
              <a:rPr sz="1500" b="0">
                <a:solidFill>
                  <a:srgbClr val="E9E3D8"/>
                </a:solidFill>
              </a:rPr>
              <a:t>Qu'est-ce qui a change dans le projet MCHP ce mois-ci 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3AABF-7644-4C36-81D1-6EF3E6FD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A623"/>
                </a:solidFill>
              </a:defRPr>
            </a:pPr>
            <a:r>
              <a:rPr sz="1350" b="1">
                <a:solidFill>
                  <a:srgbClr val="F4A623"/>
                </a:solidFill>
              </a:rPr>
              <a:t>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0865C-BE5E-4146-9006-82C72BBE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3EF"/>
                </a:solidFill>
              </a:defRPr>
            </a:pPr>
            <a:r>
              <a:rPr sz="1500" b="0">
                <a:solidFill>
                  <a:srgbClr val="F5F3EF"/>
                </a:solidFill>
              </a:rPr>
              <a:t>L'activite reste forte; deux sites demandent verification avant le rapport.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7EA1B-B1A7-4713-B9DB-21C283B8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857750" cy="29337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30D9E-F6D8-48FF-A930-E17708BE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B36"/>
                </a:solidFill>
              </a:defRPr>
            </a:pPr>
            <a:r>
              <a:rPr sz="2100" b="1">
                <a:solidFill>
                  <a:srgbClr val="153B36"/>
                </a:solidFill>
              </a:rPr>
              <a:t>Impact story generated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FC342-2C3E-441D-B881-64A9C24D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24250"/>
            <a:ext cx="3924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870"/>
                </a:solidFill>
              </a:defRPr>
            </a:pPr>
            <a:r>
              <a:rPr sz="1500" b="0">
                <a:solidFill>
                  <a:srgbClr val="617870"/>
                </a:solidFill>
              </a:rPr>
              <a:t>MCHP reached 8,744 pregnant women and completed 10,169 ultrasounds in the reporting period. The data story is strong coverage, paired with a clear quality message: verify follow-up identifiers and complicated-case classification before external reporting.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AD673-C7AC-4E27-B9E2-11392EDC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9200"/>
            <a:ext cx="1257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4EBE2-2C52-4E9E-BCD8-7B2CED17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863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Team 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21F3C-501A-4A24-BE98-6A6BB781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29200"/>
            <a:ext cx="1428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CD128-E475-4E72-B1E9-BA61D593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863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B36"/>
                </a:solidFill>
              </a:defRPr>
            </a:pPr>
            <a:r>
              <a:rPr sz="1200" b="1">
                <a:solidFill>
                  <a:srgbClr val="153B36"/>
                </a:solidFill>
              </a:rPr>
              <a:t>Donor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11CCE-5550-411E-8866-D8C5419C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29200"/>
            <a:ext cx="1314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C9619-51D8-4F3A-A2E7-E52EBFB4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86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3EF"/>
                </a:solidFill>
              </a:defRPr>
            </a:pPr>
            <a:r>
              <a:rPr sz="1200" b="1">
                <a:solidFill>
                  <a:srgbClr val="F5F3EF"/>
                </a:solidFill>
              </a:rPr>
              <a:t>Partner note</a:t>
            </a:r>
          </a:p>
        </p:txBody>
      </p:sp>
    </p:spTree>
    <p:extLst>
      <p:ext uri="{BB962C8B-B14F-4D97-AF65-F5344CB8AC3E}">
        <p14:creationId xmlns:p14="http://schemas.microsoft.com/office/powerpoint/2010/main" val="786021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CBB54D-3885-4D1C-A0EC-3A611029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A66A"/>
                </a:solidFill>
              </a:defRPr>
            </a:pPr>
            <a:r>
              <a:rPr sz="1200" b="1">
                <a:solidFill>
                  <a:srgbClr val="2FA66A"/>
                </a:solidFill>
              </a:rPr>
              <a:t>HAZAVA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AFA00-8A39-414C-A52B-FC2A476F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B36"/>
                </a:solidFill>
              </a:defRPr>
            </a:pPr>
            <a:r>
              <a:rPr sz="3000" b="1">
                <a:solidFill>
                  <a:srgbClr val="153B36"/>
                </a:solidFill>
              </a:rPr>
              <a:t>Implementation: simple, credible, extensible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80BB7-140A-4D2E-97D2-7D9949EC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19E55-1EA5-4F98-9F9C-EF91E8BF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870"/>
                </a:solidFill>
              </a:defRPr>
            </a:pPr>
            <a:r>
              <a:rPr sz="1650" b="0">
                <a:solidFill>
                  <a:srgbClr val="617870"/>
                </a:solidFill>
              </a:rPr>
              <a:t>We built the prototype around an implementation path DFM can actually maintain: Next.js UI, Supabase storage and workflow metadata, and an AI processing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0BA43-5217-4F82-9A71-A4C03566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381250" cy="19431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9D1C2-BC4F-4CC5-B5B0-22470424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3B36"/>
                </a:solidFill>
              </a:defRPr>
            </a:pPr>
            <a:r>
              <a:rPr sz="1950" b="1">
                <a:solidFill>
                  <a:srgbClr val="153B36"/>
                </a:solidFill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591C6-F794-4A0C-9B81-DC176098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885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870"/>
                </a:solidFill>
              </a:defRPr>
            </a:pPr>
            <a:r>
              <a:rPr sz="1350" b="0">
                <a:solidFill>
                  <a:srgbClr val="617870"/>
                </a:solidFill>
              </a:rPr>
              <a:t>Next.js + Tailwind</a:t>
            </a:r>
          </a:p>
          <a:p xmlns:a="http://schemas.openxmlformats.org/drawingml/2006/main">
            <a:pPr algn="l">
              <a:defRPr sz="1350" b="0">
                <a:solidFill>
                  <a:srgbClr val="617870"/>
                </a:solidFill>
              </a:defRPr>
            </a:pPr>
            <a:r>
              <a:rPr sz="1350" b="0">
                <a:solidFill>
                  <a:srgbClr val="617870"/>
                </a:solidFill>
              </a:rPr>
              <a:t>Project sidebar</a:t>
            </a:r>
          </a:p>
          <a:p xmlns:a="http://schemas.openxmlformats.org/drawingml/2006/main">
            <a:pPr algn="l">
              <a:defRPr sz="1350" b="0">
                <a:solidFill>
                  <a:srgbClr val="617870"/>
                </a:solidFill>
              </a:defRPr>
            </a:pPr>
            <a:r>
              <a:rPr sz="1350" b="0">
                <a:solidFill>
                  <a:srgbClr val="617870"/>
                </a:solidFill>
              </a:rPr>
              <a:t>dashboards, upload,</a:t>
            </a:r>
          </a:p>
          <a:p xmlns:a="http://schemas.openxmlformats.org/drawingml/2006/main">
            <a:pPr algn="l">
              <a:defRPr sz="1350" b="0">
                <a:solidFill>
                  <a:srgbClr val="617870"/>
                </a:solidFill>
              </a:defRPr>
            </a:pPr>
            <a:r>
              <a:rPr sz="1350" b="0">
                <a:solidFill>
                  <a:srgbClr val="617870"/>
                </a:solidFill>
              </a:rPr>
              <a:t>filters and chat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D20D0-78C0-4FD4-A88A-06EED500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14650"/>
            <a:ext cx="2381250" cy="19431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6D2FD-CFA9-434D-A4D2-AA535C29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004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3EF"/>
                </a:solidFill>
              </a:defRPr>
            </a:pPr>
            <a:r>
              <a:rPr sz="1950" b="1">
                <a:solidFill>
                  <a:srgbClr val="F5F3EF"/>
                </a:solidFill>
              </a:rPr>
              <a:t>Data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014D1-0A7F-4B29-A4A5-F234AFA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76650"/>
            <a:ext cx="1885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E3D8"/>
                </a:solidFill>
              </a:defRPr>
            </a:pPr>
            <a:r>
              <a:rPr sz="1350" b="0">
                <a:solidFill>
                  <a:srgbClr val="E9E3D8"/>
                </a:solidFill>
              </a:rPr>
              <a:t>Supabase Storage</a:t>
            </a:r>
          </a:p>
          <a:p xmlns:a="http://schemas.openxmlformats.org/drawingml/2006/main">
            <a:pPr algn="l">
              <a:defRPr sz="1350" b="0">
                <a:solidFill>
                  <a:srgbClr val="E9E3D8"/>
                </a:solidFill>
              </a:defRPr>
            </a:pPr>
            <a:r>
              <a:rPr sz="1350" b="0">
                <a:solidFill>
                  <a:srgbClr val="E9E3D8"/>
                </a:solidFill>
              </a:rPr>
              <a:t>Postgres metadata</a:t>
            </a:r>
          </a:p>
          <a:p xmlns:a="http://schemas.openxmlformats.org/drawingml/2006/main">
            <a:pPr algn="l">
              <a:defRPr sz="1350" b="0">
                <a:solidFill>
                  <a:srgbClr val="E9E3D8"/>
                </a:solidFill>
              </a:defRPr>
            </a:pPr>
            <a:r>
              <a:rPr sz="1350" b="0">
                <a:solidFill>
                  <a:srgbClr val="E9E3D8"/>
                </a:solidFill>
              </a:rPr>
              <a:t>project files and</a:t>
            </a:r>
          </a:p>
          <a:p xmlns:a="http://schemas.openxmlformats.org/drawingml/2006/main">
            <a:pPr algn="l">
              <a:defRPr sz="1350" b="0">
                <a:solidFill>
                  <a:srgbClr val="E9E3D8"/>
                </a:solidFill>
              </a:defRPr>
            </a:pPr>
            <a:r>
              <a:rPr sz="1350" b="0">
                <a:solidFill>
                  <a:srgbClr val="E9E3D8"/>
                </a:solidFill>
              </a:rPr>
              <a:t>workflow tables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1B308-2124-4883-95C2-2F8C051F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2381250" cy="19431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1B454-34ED-4531-88DD-42F4DDD7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04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3B36"/>
                </a:solidFill>
              </a:defRPr>
            </a:pPr>
            <a:r>
              <a:rPr sz="1950" b="1">
                <a:solidFill>
                  <a:srgbClr val="153B36"/>
                </a:solidFill>
              </a:rPr>
              <a:t>AI 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41887-89DA-4755-BE59-1BFB2925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1885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870"/>
                </a:solidFill>
              </a:defRPr>
            </a:pPr>
            <a:r>
              <a:rPr sz="1350" b="0">
                <a:solidFill>
                  <a:srgbClr val="617870"/>
                </a:solidFill>
              </a:rPr>
              <a:t>Parsing pipeline</a:t>
            </a:r>
          </a:p>
          <a:p xmlns:a="http://schemas.openxmlformats.org/drawingml/2006/main">
            <a:pPr algn="l">
              <a:defRPr sz="1350" b="0">
                <a:solidFill>
                  <a:srgbClr val="617870"/>
                </a:solidFill>
              </a:defRPr>
            </a:pPr>
            <a:r>
              <a:rPr sz="1350" b="0">
                <a:solidFill>
                  <a:srgbClr val="617870"/>
                </a:solidFill>
              </a:rPr>
              <a:t>quality checks</a:t>
            </a:r>
          </a:p>
          <a:p xmlns:a="http://schemas.openxmlformats.org/drawingml/2006/main">
            <a:pPr algn="l">
              <a:defRPr sz="1350" b="0">
                <a:solidFill>
                  <a:srgbClr val="617870"/>
                </a:solidFill>
              </a:defRPr>
            </a:pPr>
            <a:r>
              <a:rPr sz="1350" b="0">
                <a:solidFill>
                  <a:srgbClr val="617870"/>
                </a:solidFill>
              </a:rPr>
              <a:t>retrieval and</a:t>
            </a:r>
          </a:p>
          <a:p xmlns:a="http://schemas.openxmlformats.org/drawingml/2006/main">
            <a:pPr algn="l">
              <a:defRPr sz="1350" b="0">
                <a:solidFill>
                  <a:srgbClr val="617870"/>
                </a:solidFill>
              </a:defRPr>
            </a:pPr>
            <a:r>
              <a:rPr sz="1350" b="0">
                <a:solidFill>
                  <a:srgbClr val="617870"/>
                </a:solidFill>
              </a:rPr>
              <a:t>explanations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1F789-0980-4022-902E-4CBBA5D8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14650"/>
            <a:ext cx="2381250" cy="19431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E94A8-9E6C-48AA-BBDE-C6629E3D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004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3B36"/>
                </a:solidFill>
              </a:defRPr>
            </a:pPr>
            <a:r>
              <a:rPr sz="1950" b="1">
                <a:solidFill>
                  <a:srgbClr val="153B36"/>
                </a:solidFill>
              </a:rPr>
              <a:t>Human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46B51-B3BC-4624-8347-079858DE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76650"/>
            <a:ext cx="1885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870"/>
                </a:solidFill>
              </a:defRPr>
            </a:pPr>
            <a:r>
              <a:rPr sz="1350" b="0">
                <a:solidFill>
                  <a:srgbClr val="617870"/>
                </a:solidFill>
              </a:rPr>
              <a:t>Approval gate</a:t>
            </a:r>
          </a:p>
          <a:p xmlns:a="http://schemas.openxmlformats.org/drawingml/2006/main">
            <a:pPr algn="l">
              <a:defRPr sz="1350" b="0">
                <a:solidFill>
                  <a:srgbClr val="617870"/>
                </a:solidFill>
              </a:defRPr>
            </a:pPr>
            <a:r>
              <a:rPr sz="1350" b="0">
                <a:solidFill>
                  <a:srgbClr val="617870"/>
                </a:solidFill>
              </a:rPr>
              <a:t>transparent findings</a:t>
            </a:r>
          </a:p>
          <a:p xmlns:a="http://schemas.openxmlformats.org/drawingml/2006/main">
            <a:pPr algn="l">
              <a:defRPr sz="1350" b="0">
                <a:solidFill>
                  <a:srgbClr val="617870"/>
                </a:solidFill>
              </a:defRPr>
            </a:pPr>
            <a:r>
              <a:rPr sz="1350" b="0">
                <a:solidFill>
                  <a:srgbClr val="617870"/>
                </a:solidFill>
              </a:rPr>
              <a:t>clear actions</a:t>
            </a:r>
          </a:p>
          <a:p xmlns:a="http://schemas.openxmlformats.org/drawingml/2006/main">
            <a:pPr algn="l">
              <a:defRPr sz="1350" b="0">
                <a:solidFill>
                  <a:srgbClr val="617870"/>
                </a:solidFill>
              </a:defRPr>
            </a:pPr>
            <a:r>
              <a:rPr sz="1350" b="0">
                <a:solidFill>
                  <a:srgbClr val="617870"/>
                </a:solidFill>
              </a:rPr>
              <a:t>audit trail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86438-EF87-4538-B7C5-7769D51E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10287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9525">
            <a:solidFill>
              <a:srgbClr val="B7E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46A3C-7F4B-430D-AFD5-45544C86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4830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3B36"/>
                </a:solidFill>
              </a:defRPr>
            </a:pPr>
            <a:r>
              <a:rPr sz="1500" b="1">
                <a:solidFill>
                  <a:srgbClr val="153B36"/>
                </a:solidFill>
              </a:rPr>
              <a:t>Workflow status: file received &gt; folder selected &gt; converted &gt; extracted &gt; quality flags &gt; approval.</a:t>
            </a:r>
          </a:p>
        </p:txBody>
      </p:sp>
    </p:spTree>
    <p:extLst>
      <p:ext uri="{BB962C8B-B14F-4D97-AF65-F5344CB8AC3E}">
        <p14:creationId xmlns:p14="http://schemas.microsoft.com/office/powerpoint/2010/main" val="1166293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A44968-4B89-458D-92E0-65DD8003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A66A"/>
                </a:solidFill>
              </a:defRPr>
            </a:pPr>
            <a:r>
              <a:rPr sz="1200" b="1">
                <a:solidFill>
                  <a:srgbClr val="2FA66A"/>
                </a:solidFill>
              </a:rPr>
              <a:t>HAZAVA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F1128-7442-400F-B65E-8EE238AB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B36"/>
                </a:solidFill>
              </a:defRPr>
            </a:pPr>
            <a:r>
              <a:rPr sz="3000" b="1">
                <a:solidFill>
                  <a:srgbClr val="153B36"/>
                </a:solidFill>
              </a:rPr>
              <a:t>Why this can win the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B3E31-DC26-4CBD-B16A-4525FA51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82AC2-9825-44C7-B40E-7B9F6306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870"/>
                </a:solidFill>
              </a:defRPr>
            </a:pPr>
            <a:r>
              <a:rPr sz="1650" b="0">
                <a:solidFill>
                  <a:srgbClr val="617870"/>
                </a:solidFill>
              </a:rPr>
              <a:t>Hazava is not just a chatbot. It is a workflow for turning DFM's existing monitoring data into governed, explainable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E2F43-B225-4C35-B5F5-0A31A0AC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762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623CE-891A-4225-AC02-535F8FFB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3EF"/>
                </a:solidFill>
              </a:defRPr>
            </a:pPr>
            <a:r>
              <a:rPr sz="2100" b="1">
                <a:solidFill>
                  <a:srgbClr val="F5F3EF"/>
                </a:solidFill>
              </a:rPr>
              <a:t>Built around real DFM 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9E09C-E494-4E2F-8885-5F8C5896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3238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356EC-D321-4409-BB45-3AD9A5D8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480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3EF"/>
                </a:solidFill>
              </a:defRPr>
            </a:pPr>
            <a:r>
              <a:rPr sz="1350" b="0">
                <a:solidFill>
                  <a:srgbClr val="F5F3EF"/>
                </a:solidFill>
              </a:rPr>
              <a:t>Project selector mirrors DFM dashboards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D8482-C404-4426-8130-E726C89E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3238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20845-A2B3-4052-BD87-F792DB9D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862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3EF"/>
                </a:solidFill>
              </a:defRPr>
            </a:pPr>
            <a:r>
              <a:rPr sz="1350" b="0">
                <a:solidFill>
                  <a:srgbClr val="F5F3EF"/>
                </a:solidFill>
              </a:rPr>
              <a:t>MCHP subpages: ambulance, echographie, register, 5S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95B4B-32CF-42C4-BF3A-06B119C6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3238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BDCDF-D2F7-4401-841F-282ADC3F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24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3EF"/>
                </a:solidFill>
              </a:defRPr>
            </a:pPr>
            <a:r>
              <a:rPr sz="1350" b="0">
                <a:solidFill>
                  <a:srgbClr val="F5F3EF"/>
                </a:solidFill>
              </a:rPr>
              <a:t>Upload workflow wired for teammate processing pipeline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36273-69F6-428A-A80D-D98FC280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53000"/>
            <a:ext cx="3238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43990-4AF4-4550-8E5E-063F65AF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625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3EF"/>
                </a:solidFill>
              </a:defRPr>
            </a:pPr>
            <a:r>
              <a:rPr sz="1350" b="0">
                <a:solidFill>
                  <a:srgbClr val="F5F3EF"/>
                </a:solidFill>
              </a:rPr>
              <a:t>French-first assistant with English toggle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93F30-7069-4ED7-A3F5-8A260E9C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4762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C992D-29F5-4235-9356-9B2FE316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B36"/>
                </a:solidFill>
              </a:defRPr>
            </a:pPr>
            <a:r>
              <a:rPr sz="2100" b="1">
                <a:solidFill>
                  <a:srgbClr val="153B36"/>
                </a:solidFill>
              </a:rPr>
              <a:t>Judge value in one sentence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67D2A0-D65B-4DBF-9910-B60B77EB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385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3B36"/>
                </a:solidFill>
              </a:defRPr>
            </a:pPr>
            <a:r>
              <a:rPr sz="2100" b="1">
                <a:solidFill>
                  <a:srgbClr val="153B36"/>
                </a:solidFill>
              </a:rPr>
              <a:t>Hazava turns raw field data into clear management action while preserving human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E94B0-EFAF-43BC-8A63-190172DB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96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870"/>
                </a:solidFill>
              </a:defRPr>
            </a:pPr>
            <a:r>
              <a:rPr sz="1500" b="0">
                <a:solidFill>
                  <a:srgbClr val="617870"/>
                </a:solidFill>
              </a:rPr>
              <a:t>AI gives experts a reliable first read without replacing their judgement.</a:t>
            </a:r>
          </a:p>
        </p:txBody>
      </p:sp>
    </p:spTree>
    <p:extLst>
      <p:ext uri="{BB962C8B-B14F-4D97-AF65-F5344CB8AC3E}">
        <p14:creationId xmlns:p14="http://schemas.microsoft.com/office/powerpoint/2010/main" val="13087591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3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314C3C-726D-4728-8B0D-AFBFAE47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62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F4744-8D50-43C0-8583-998E9A04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3B36"/>
                </a:solidFill>
              </a:defRPr>
            </a:pPr>
            <a:r>
              <a:rPr sz="1650" b="1">
                <a:solidFill>
                  <a:srgbClr val="153B36"/>
                </a:solidFill>
              </a:rPr>
              <a:t>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98BC4-755C-4BF0-AF82-FC1F89A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9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3EF"/>
                </a:solidFill>
              </a:defRPr>
            </a:pPr>
            <a:r>
              <a:rPr sz="2100" b="1">
                <a:solidFill>
                  <a:srgbClr val="F5F3EF"/>
                </a:solidFill>
              </a:rPr>
              <a:t>Hazava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2CFC9-CA3F-442B-B640-7B39BC65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33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3D8"/>
                </a:solidFill>
              </a:defRPr>
            </a:pPr>
            <a:r>
              <a:rPr sz="1200" b="0">
                <a:solidFill>
                  <a:srgbClr val="E9E3D8"/>
                </a:solidFill>
              </a:rPr>
              <a:t>M&amp;E Assistant for DFM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61172-6C00-4731-A82F-7E716AFF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3EF"/>
                </a:solidFill>
              </a:defRPr>
            </a:pPr>
            <a:r>
              <a:rPr sz="4350" b="1">
                <a:solidFill>
                  <a:srgbClr val="F5F3EF"/>
                </a:solidFill>
              </a:rPr>
              <a:t>Pilot-ready 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0A67C-331F-4D40-8EC2-BE242E64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9E3D8"/>
                </a:solidFill>
              </a:defRPr>
            </a:pPr>
            <a:r>
              <a:rPr sz="1800" b="0">
                <a:solidFill>
                  <a:srgbClr val="E9E3D8"/>
                </a:solidFill>
              </a:rPr>
              <a:t>Let Hazava process a first DFM vertical slice end to end, starting with MCHP ultrasound and register data, then expand across projects.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4036C-4454-45E5-86DD-965508EB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24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245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05EB1-3FDC-4140-BDB9-6A6312EB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1477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DB9F2-7A80-444B-88EC-CD2372CF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719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3B36"/>
                </a:solidFill>
              </a:defRPr>
            </a:pPr>
            <a:r>
              <a:rPr sz="1350" b="1">
                <a:solidFill>
                  <a:srgbClr val="153B36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9703D-E93D-4D6F-99E2-C4A07892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67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3EF"/>
                </a:solidFill>
              </a:defRPr>
            </a:pPr>
            <a:r>
              <a:rPr sz="1500" b="1">
                <a:solidFill>
                  <a:srgbClr val="F5F3EF"/>
                </a:solidFill>
              </a:rPr>
              <a:t>Validate MCHP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E409B-C5D2-4AAD-BC1F-A8FF852D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3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3D8"/>
                </a:solidFill>
              </a:defRPr>
            </a:pPr>
            <a:r>
              <a:rPr sz="1200" b="0">
                <a:solidFill>
                  <a:srgbClr val="E9E3D8"/>
                </a:solidFill>
              </a:rPr>
              <a:t>Confirm required fields, plausible ranges and facility naming standards.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0ECC5-BD74-4E95-B846-E0558CDD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24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245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51936-B20B-4AA4-9386-05937E6F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5297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F3585-9F7E-490A-9891-0FFEADF6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3B36"/>
                </a:solidFill>
              </a:defRPr>
            </a:pPr>
            <a:r>
              <a:rPr sz="1350" b="1">
                <a:solidFill>
                  <a:srgbClr val="153B36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43B83-94B0-4308-BB2F-2BA2635E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0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3EF"/>
                </a:solidFill>
              </a:defRPr>
            </a:pPr>
            <a:r>
              <a:rPr sz="1500" b="1">
                <a:solidFill>
                  <a:srgbClr val="F5F3EF"/>
                </a:solidFill>
              </a:rPr>
              <a:t>Connect contextual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876E2-E514-4B21-9D97-8650BDD0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72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3D8"/>
                </a:solidFill>
              </a:defRPr>
            </a:pPr>
            <a:r>
              <a:rPr sz="1200" b="0">
                <a:solidFill>
                  <a:srgbClr val="E9E3D8"/>
                </a:solidFill>
              </a:rPr>
              <a:t>Add rainfall, seasonality and access proxies for risk-window analysis.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37781-1AB2-448B-9752-93F330F0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59245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245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E8DD7-84DF-4409-AB21-0856B0E4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9ECC8-4816-4F37-88E7-47143D9F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483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3B36"/>
                </a:solidFill>
              </a:defRPr>
            </a:pPr>
            <a:r>
              <a:rPr sz="1350" b="1">
                <a:solidFill>
                  <a:srgbClr val="153B36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862AA-741F-42DF-BCC3-531A4566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43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3EF"/>
                </a:solidFill>
              </a:defRPr>
            </a:pPr>
            <a:r>
              <a:rPr sz="1500" b="1">
                <a:solidFill>
                  <a:srgbClr val="F5F3EF"/>
                </a:solidFill>
              </a:rPr>
              <a:t>Co-design outputs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AD2737-1E26-4D1E-AEF5-6D4624DB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10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3D8"/>
                </a:solidFill>
              </a:defRPr>
            </a:pPr>
            <a:r>
              <a:rPr sz="1200" b="0">
                <a:solidFill>
                  <a:srgbClr val="E9E3D8"/>
                </a:solidFill>
              </a:rPr>
              <a:t>Tune French explanations, donor summaries and team dashboards with DFM users.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3864A-6F18-4A42-AEC4-D1734D25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71550"/>
            <a:ext cx="3429000" cy="5048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766D3D-7B64-408A-8B70-9331DCD1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287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3B36"/>
                </a:solidFill>
              </a:defRPr>
            </a:pPr>
            <a:r>
              <a:rPr sz="2250" b="1">
                <a:solidFill>
                  <a:srgbClr val="153B36"/>
                </a:solidFill>
              </a:rPr>
              <a:t>Expected impact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7567CD-C65D-473B-88EA-A0E085B9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A4E0F-BE65-4DDC-8011-FBDD92B7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8D740-0320-416D-B347-B8D96E31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B36"/>
                </a:solidFill>
              </a:defRPr>
            </a:pPr>
            <a:r>
              <a:rPr sz="2550" b="1">
                <a:solidFill>
                  <a:srgbClr val="153B36"/>
                </a:solidFill>
              </a:rPr>
              <a:t>Faster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E69D1-2EE0-4A57-B792-C50D33DA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051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870"/>
                </a:solidFill>
              </a:defRPr>
            </a:pPr>
            <a:r>
              <a:rPr sz="1275" b="0">
                <a:solidFill>
                  <a:srgbClr val="617870"/>
                </a:solidFill>
              </a:rPr>
              <a:t>raw data to insight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C628FE-1856-461C-9F35-F4108A87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956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5F52F4-6AE0-458B-8374-3F137B90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956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9B783A-3ABD-4E5F-BC07-D54183CC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052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B36"/>
                </a:solidFill>
              </a:defRPr>
            </a:pPr>
            <a:r>
              <a:rPr sz="2550" b="1">
                <a:solidFill>
                  <a:srgbClr val="153B36"/>
                </a:solidFill>
              </a:rPr>
              <a:t>Cleaner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8A5F41-B1A7-4933-B042-FAB83C13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243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870"/>
                </a:solidFill>
              </a:defRPr>
            </a:pPr>
            <a:r>
              <a:rPr sz="1275" b="0">
                <a:solidFill>
                  <a:srgbClr val="617870"/>
                </a:solidFill>
              </a:rPr>
              <a:t>data before reporting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E1FF65-0ACD-413F-BB4C-322AEBD6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606630-C0F2-4785-8E67-55CF5E55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9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5E4E57-B5B3-413C-A280-154591D1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244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B36"/>
                </a:solidFill>
              </a:defRPr>
            </a:pPr>
            <a:r>
              <a:rPr sz="2550" b="1">
                <a:solidFill>
                  <a:srgbClr val="153B36"/>
                </a:solidFill>
              </a:rPr>
              <a:t>Earlier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4D8D99-93DA-4E4E-AD8C-1B967A96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4350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870"/>
                </a:solidFill>
              </a:defRPr>
            </a:pPr>
            <a:r>
              <a:rPr sz="1275" b="0">
                <a:solidFill>
                  <a:srgbClr val="617870"/>
                </a:solidFill>
              </a:rPr>
              <a:t>signals of service gaps</a:t>
            </a:r>
          </a:p>
        </p:txBody>
      </p:sp>
    </p:spTree>
    <p:extLst>
      <p:ext uri="{BB962C8B-B14F-4D97-AF65-F5344CB8AC3E}">
        <p14:creationId xmlns:p14="http://schemas.microsoft.com/office/powerpoint/2010/main" val="676895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2026-06-28T01:28:04.2010000Z</dcterms:created>
  <dcterms:modified xsi:type="dcterms:W3CDTF">2026-06-28T01:28:04.2010000Z</dcterms:modified>
</coreProperties>
</file>